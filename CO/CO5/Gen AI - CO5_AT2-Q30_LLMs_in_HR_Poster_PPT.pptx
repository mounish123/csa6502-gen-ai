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1310" y="-50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58000" cy="1051560"/>
          </a:xfrm>
          <a:prstGeom prst="rect">
            <a:avLst/>
          </a:prstGeom>
          <a:solidFill>
            <a:srgbClr val="FFF8E6"/>
          </a:solidFill>
          <a:ln>
            <a:solidFill>
              <a:srgbClr val="FFF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858000" cy="2971800"/>
          </a:xfrm>
          <a:prstGeom prst="rect">
            <a:avLst/>
          </a:prstGeom>
          <a:solidFill>
            <a:srgbClr val="4C74BE"/>
          </a:solidFill>
          <a:ln>
            <a:solidFill>
              <a:srgbClr val="4C7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6858000" cy="2788920"/>
          </a:xfrm>
          <a:prstGeom prst="rect">
            <a:avLst/>
          </a:prstGeom>
          <a:solidFill>
            <a:srgbClr val="FFE0C2"/>
          </a:solidFill>
          <a:ln>
            <a:solidFill>
              <a:srgbClr val="FFE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6858000" cy="2788920"/>
          </a:xfrm>
          <a:prstGeom prst="rect">
            <a:avLst/>
          </a:prstGeom>
          <a:solidFill>
            <a:srgbClr val="F8C4DC"/>
          </a:solidFill>
          <a:ln>
            <a:solidFill>
              <a:srgbClr val="F8C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601200"/>
            <a:ext cx="6858000" cy="2423160"/>
          </a:xfrm>
          <a:prstGeom prst="rect">
            <a:avLst/>
          </a:prstGeom>
          <a:solidFill>
            <a:srgbClr val="FFBB14"/>
          </a:solidFill>
          <a:ln>
            <a:solidFill>
              <a:srgbClr val="FFB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2024360"/>
            <a:ext cx="6858000" cy="1691640"/>
          </a:xfrm>
          <a:prstGeom prst="rect">
            <a:avLst/>
          </a:prstGeom>
          <a:solidFill>
            <a:srgbClr val="DAF4CF"/>
          </a:solidFill>
          <a:ln>
            <a:solidFill>
              <a:srgbClr val="DAF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-18288"/>
            <a:ext cx="6217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dirty="0">
                <a:solidFill>
                  <a:srgbClr val="1C375F"/>
                </a:solidFill>
                <a:latin typeface="Times New Roman"/>
              </a:rPr>
              <a:t>SIMATS ENGINEERING (SAVEETHA SCHOOL OF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" y="164592"/>
            <a:ext cx="6217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dirty="0">
                <a:solidFill>
                  <a:srgbClr val="232323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265176"/>
            <a:ext cx="6400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dirty="0">
                <a:solidFill>
                  <a:srgbClr val="1C375F"/>
                </a:solidFill>
                <a:latin typeface="Times New Roman"/>
              </a:rPr>
              <a:t>LLMs in Human Resources: Recruitment, Resume Screening and Workforce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568197" y="859535"/>
            <a:ext cx="62179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50" b="1" dirty="0">
                <a:solidFill>
                  <a:srgbClr val="232323"/>
                </a:solidFill>
                <a:latin typeface="Times New Roman"/>
              </a:rPr>
              <a:t>Question 30  |  Generative AI and Large Scale Models  |  CO5 – BL-5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115568"/>
            <a:ext cx="182880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1124712"/>
            <a:ext cx="17373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1536192"/>
            <a:ext cx="6400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Times New Roman"/>
              </a:rPr>
              <a:t>Large Language Models (LLMs) can support HR teams by understanding and generating natural-language content across recruitment, employee support and workforce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" y="2103120"/>
            <a:ext cx="182880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" y="2112263"/>
            <a:ext cx="17373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496312"/>
            <a:ext cx="64008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940">
                <a:solidFill>
                  <a:srgbClr val="FFFFFF"/>
                </a:solidFill>
                <a:latin typeface="Times New Roman"/>
              </a:rPr>
              <a:t>• Manual resume screening is time-consuming when applicant volume is high.</a:t>
            </a:r>
          </a:p>
          <a:p>
            <a:pPr>
              <a:spcAft>
                <a:spcPts val="200"/>
              </a:spcAft>
            </a:pPr>
            <a:r>
              <a:rPr sz="940">
                <a:solidFill>
                  <a:srgbClr val="FFFFFF"/>
                </a:solidFill>
                <a:latin typeface="Times New Roman"/>
              </a:rPr>
              <a:t>• HR teams need faster candidate–job matching and consistent communication.</a:t>
            </a:r>
          </a:p>
          <a:p>
            <a:pPr>
              <a:spcAft>
                <a:spcPts val="200"/>
              </a:spcAft>
            </a:pPr>
            <a:r>
              <a:rPr sz="940">
                <a:solidFill>
                  <a:srgbClr val="FFFFFF"/>
                </a:solidFill>
                <a:latin typeface="Times New Roman"/>
              </a:rPr>
              <a:t>• AI-assisted selection must be monitored for bias, privacy risks and inappropriate automation.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" y="3310128"/>
            <a:ext cx="205740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3319272"/>
            <a:ext cx="19659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 dirty="0">
                <a:solidFill>
                  <a:srgbClr val="1C375F"/>
                </a:solidFill>
                <a:latin typeface="Times New Roman"/>
              </a:rPr>
              <a:t>LLM TECHNOLOGY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3675887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>
                <a:solidFill>
                  <a:srgbClr val="FFFFFF"/>
                </a:solidFill>
                <a:latin typeface="Times New Roman"/>
              </a:rPr>
              <a:t>LLMs are transformer-based models trained on large text corpora. In HR, they can extract, summarize, classify and generate language-based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4160520"/>
            <a:ext cx="214884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" y="4169663"/>
            <a:ext cx="20574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ARCHITECTURE / 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4617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7744" y="4663440"/>
            <a:ext cx="9784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1C375F"/>
                </a:solidFill>
                <a:latin typeface="Times New Roman"/>
              </a:rPr>
              <a:t>1. HR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" y="491947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60" b="0">
                <a:solidFill>
                  <a:srgbClr val="232323"/>
                </a:solidFill>
                <a:latin typeface="Times New Roman"/>
              </a:rPr>
              <a:t>Job description</a:t>
            </a:r>
            <a:br/>
            <a:r>
              <a:rPr sz="760" b="0">
                <a:solidFill>
                  <a:srgbClr val="232323"/>
                </a:solidFill>
                <a:latin typeface="Times New Roman"/>
              </a:rPr>
              <a:t>+ resumes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61872" y="5093208"/>
            <a:ext cx="201167" cy="0"/>
          </a:xfrm>
          <a:prstGeom prst="line">
            <a:avLst/>
          </a:prstGeom>
          <a:ln w="25400">
            <a:solidFill>
              <a:srgbClr val="1C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508760" y="4617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45336" y="4663440"/>
            <a:ext cx="9784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1C375F"/>
                </a:solidFill>
                <a:latin typeface="Times New Roman"/>
              </a:rPr>
              <a:t>2. Pre-process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1947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60" b="0">
                <a:solidFill>
                  <a:srgbClr val="232323"/>
                </a:solidFill>
                <a:latin typeface="Times New Roman"/>
              </a:rPr>
              <a:t>Extract skills,</a:t>
            </a:r>
            <a:br/>
            <a:r>
              <a:rPr sz="760" b="0">
                <a:solidFill>
                  <a:srgbClr val="232323"/>
                </a:solidFill>
                <a:latin typeface="Times New Roman"/>
              </a:rPr>
              <a:t>experience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9463" y="5093208"/>
            <a:ext cx="201169" cy="0"/>
          </a:xfrm>
          <a:prstGeom prst="line">
            <a:avLst/>
          </a:prstGeom>
          <a:ln w="25400">
            <a:solidFill>
              <a:srgbClr val="1C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816352" y="4617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52928" y="4663440"/>
            <a:ext cx="9784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1C375F"/>
                </a:solidFill>
                <a:latin typeface="Times New Roman"/>
              </a:rPr>
              <a:t>3. LLM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62072" y="491947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60" b="0">
                <a:solidFill>
                  <a:srgbClr val="232323"/>
                </a:solidFill>
                <a:latin typeface="Times New Roman"/>
              </a:rPr>
              <a:t>Match, summarize,</a:t>
            </a:r>
            <a:br/>
            <a:r>
              <a:rPr sz="760" b="0">
                <a:solidFill>
                  <a:srgbClr val="232323"/>
                </a:solidFill>
                <a:latin typeface="Times New Roman"/>
              </a:rPr>
              <a:t>classify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877056" y="5093208"/>
            <a:ext cx="201168" cy="0"/>
          </a:xfrm>
          <a:prstGeom prst="line">
            <a:avLst/>
          </a:prstGeom>
          <a:ln w="25400">
            <a:solidFill>
              <a:srgbClr val="1C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23944" y="4617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60520" y="4663440"/>
            <a:ext cx="9784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1C375F"/>
                </a:solidFill>
                <a:latin typeface="Times New Roman"/>
              </a:rPr>
              <a:t>4. HR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9663" y="491947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60" b="0">
                <a:solidFill>
                  <a:srgbClr val="232323"/>
                </a:solidFill>
                <a:latin typeface="Times New Roman"/>
              </a:rPr>
              <a:t>Human validation</a:t>
            </a:r>
            <a:br/>
            <a:r>
              <a:rPr sz="760" b="0">
                <a:solidFill>
                  <a:srgbClr val="232323"/>
                </a:solidFill>
                <a:latin typeface="Times New Roman"/>
              </a:rPr>
              <a:t>&amp; decision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84648" y="5093208"/>
            <a:ext cx="201168" cy="0"/>
          </a:xfrm>
          <a:prstGeom prst="line">
            <a:avLst/>
          </a:prstGeom>
          <a:ln w="25400">
            <a:solidFill>
              <a:srgbClr val="1C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431536" y="4617720"/>
            <a:ext cx="1051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68112" y="4663440"/>
            <a:ext cx="9784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60" b="1">
                <a:solidFill>
                  <a:srgbClr val="1C375F"/>
                </a:solidFill>
                <a:latin typeface="Times New Roman"/>
              </a:rPr>
              <a:t>5. Analytics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7255" y="4919472"/>
            <a:ext cx="960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60" b="0">
                <a:solidFill>
                  <a:srgbClr val="232323"/>
                </a:solidFill>
                <a:latin typeface="Times New Roman"/>
              </a:rPr>
              <a:t>Insights &amp;</a:t>
            </a:r>
            <a:br/>
            <a:r>
              <a:rPr sz="760" b="0">
                <a:solidFill>
                  <a:srgbClr val="232323"/>
                </a:solidFill>
                <a:latin typeface="Times New Roman"/>
              </a:rPr>
              <a:t>workforce trends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7160" y="5715000"/>
            <a:ext cx="214884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5724144"/>
            <a:ext cx="20574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REAL-WORLD USE CASE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" y="6099048"/>
            <a:ext cx="6400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69" b="0">
                <a:solidFill>
                  <a:srgbClr val="232323"/>
                </a:solidFill>
                <a:latin typeface="Times New Roman"/>
              </a:rPr>
              <a:t>AI-Assisted Recruitment: an LLM can compare job requirements with resume content, identify relevant skills, create a structured candidate summary and assist recruiters in prioritizing candidates for human review.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" y="6949440"/>
            <a:ext cx="214884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82880" y="6958583"/>
            <a:ext cx="20574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INDUSTRY APPLICATIONS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" y="7342631"/>
            <a:ext cx="3108960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Recruitment and candidate sourcing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Resume screening and job matching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Interview question generation and summaries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Employee HR chatbots and policy assistance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Workforce analytics and skills-gap analysis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Learning, upskilling and career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6949440"/>
            <a:ext cx="160020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11879" y="6958583"/>
            <a:ext cx="150876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ADVANTAGES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7342631"/>
            <a:ext cx="2971800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Reduces repetitive HR work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Faster candidate processing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Consistent summaries and communication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Supports data-driven workforce insights</a:t>
            </a:r>
          </a:p>
          <a:p>
            <a:pPr>
              <a:spcAft>
                <a:spcPts val="200"/>
              </a:spcAft>
            </a:pPr>
            <a:r>
              <a:rPr sz="919">
                <a:solidFill>
                  <a:srgbClr val="232323"/>
                </a:solidFill>
                <a:latin typeface="Times New Roman"/>
              </a:rPr>
              <a:t>• Improves HR team productivity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" y="8933688"/>
            <a:ext cx="214884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82880" y="8942832"/>
            <a:ext cx="205740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CHALLENGES / LIMITATIONS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1168" y="9308592"/>
            <a:ext cx="64008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32323"/>
                </a:solidFill>
                <a:latin typeface="Times New Roman"/>
              </a:rPr>
              <a:t>• Bias in training data or prompts • privacy of applicant data • hallucinated or incorrect summaries • lack of explainability • over-reliance on automated recommendations.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7160" y="9756648"/>
            <a:ext cx="224028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2880" y="9765792"/>
            <a:ext cx="21488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RESPONSIBLE AI &amp; 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" y="10131552"/>
            <a:ext cx="640080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200"/>
              </a:spcAft>
            </a:pPr>
            <a:r>
              <a:rPr sz="930">
                <a:solidFill>
                  <a:srgbClr val="232323"/>
                </a:solidFill>
                <a:latin typeface="Times New Roman"/>
              </a:rPr>
              <a:t>• Keep humans accountable for hiring decisions; use LLM output as decision support, not an automatic final decision.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32323"/>
                </a:solidFill>
                <a:latin typeface="Times New Roman"/>
              </a:rPr>
              <a:t>• Validate selection tools for job-relatedness and monitor for adverse impact or discriminatory outcomes.</a:t>
            </a:r>
          </a:p>
          <a:p>
            <a:pPr>
              <a:spcAft>
                <a:spcPts val="200"/>
              </a:spcAft>
            </a:pPr>
            <a:r>
              <a:rPr sz="930">
                <a:solidFill>
                  <a:srgbClr val="232323"/>
                </a:solidFill>
                <a:latin typeface="Times New Roman"/>
              </a:rPr>
              <a:t>• Protect resumes and employee information through access control, data minimization and secure processing.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7160" y="11082528"/>
            <a:ext cx="150876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82880" y="11091672"/>
            <a:ext cx="1417319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FUTURE SCOPE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1168" y="11457432"/>
            <a:ext cx="30632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90" b="0">
                <a:solidFill>
                  <a:srgbClr val="232323"/>
                </a:solidFill>
                <a:latin typeface="Times New Roman"/>
              </a:rPr>
              <a:t>Multimodal HR assistants, skills-based talent intelligence, personalized learning and stronger auditability for AI-assisted HR decisions.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29000" y="11082528"/>
            <a:ext cx="150876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474720" y="11091672"/>
            <a:ext cx="1417319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CONCLUSION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93008" y="11457432"/>
            <a:ext cx="3090672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90" b="0">
                <a:solidFill>
                  <a:srgbClr val="232323"/>
                </a:solidFill>
                <a:latin typeface="Times New Roman"/>
              </a:rPr>
              <a:t>LLMs can make HR processes faster and more scalable, but responsible deployment requires privacy, fairness, validation and human oversight.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37160" y="12143232"/>
            <a:ext cx="1508760" cy="347472"/>
          </a:xfrm>
          <a:prstGeom prst="roundRect">
            <a:avLst/>
          </a:prstGeom>
          <a:solidFill>
            <a:srgbClr val="FFF43C"/>
          </a:solidFill>
          <a:ln>
            <a:solidFill>
              <a:srgbClr val="1C3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82880" y="12152376"/>
            <a:ext cx="1417319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>
                <a:solidFill>
                  <a:srgbClr val="1C375F"/>
                </a:solidFill>
                <a:latin typeface="Times New Roman"/>
              </a:rPr>
              <a:t>KEY TAKEAWAY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1168" y="12508992"/>
            <a:ext cx="6400800" cy="30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20" b="1">
                <a:solidFill>
                  <a:srgbClr val="1C375F"/>
                </a:solidFill>
                <a:latin typeface="Times New Roman"/>
              </a:rPr>
              <a:t>LLMs should augment HR professionals—not replace accountable human judgment.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168" y="12893040"/>
            <a:ext cx="640080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0" dirty="0">
                <a:solidFill>
                  <a:srgbClr val="232323"/>
                </a:solidFill>
                <a:latin typeface="Times New Roman"/>
              </a:rPr>
              <a:t>References: U.S. EEOC – Employment Discrimination and AI for Workers (2024); EEOC – Strategic Enforcement Plan 2024–2028; EEOC – Employment Tests and Selection Procedures.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" y="13240512"/>
            <a:ext cx="64008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dirty="0">
                <a:solidFill>
                  <a:srgbClr val="232323"/>
                </a:solidFill>
                <a:latin typeface="Times New Roman"/>
              </a:rPr>
              <a:t>Student Name: </a:t>
            </a:r>
            <a:r>
              <a:rPr lang="en-US" sz="1100" b="1" dirty="0">
                <a:solidFill>
                  <a:srgbClr val="232323"/>
                </a:solidFill>
                <a:latin typeface="Times New Roman"/>
              </a:rPr>
              <a:t>A. Mounish </a:t>
            </a:r>
            <a:r>
              <a:rPr sz="1100" b="1" dirty="0">
                <a:solidFill>
                  <a:srgbClr val="232323"/>
                </a:solidFill>
                <a:latin typeface="Times New Roman"/>
              </a:rPr>
              <a:t> </a:t>
            </a:r>
            <a:r>
              <a:rPr lang="en-US" sz="1100" b="1" dirty="0">
                <a:solidFill>
                  <a:srgbClr val="232323"/>
                </a:solidFill>
                <a:latin typeface="Times New Roman"/>
              </a:rPr>
              <a:t>                         </a:t>
            </a:r>
            <a:r>
              <a:rPr sz="1100" b="1" dirty="0">
                <a:solidFill>
                  <a:srgbClr val="232323"/>
                </a:solidFill>
                <a:latin typeface="Times New Roman"/>
              </a:rPr>
              <a:t> Reg. No.: </a:t>
            </a:r>
            <a:r>
              <a:rPr lang="en-US" sz="1100" b="1" dirty="0">
                <a:solidFill>
                  <a:srgbClr val="232323"/>
                </a:solidFill>
                <a:latin typeface="Times New Roman"/>
              </a:rPr>
              <a:t>192472273                             </a:t>
            </a:r>
            <a:r>
              <a:rPr sz="1100" b="1" dirty="0">
                <a:solidFill>
                  <a:srgbClr val="232323"/>
                </a:solidFill>
                <a:latin typeface="Times New Roman"/>
              </a:rPr>
              <a:t>  Section/Batch</a:t>
            </a:r>
            <a:r>
              <a:rPr lang="en-IN" sz="1100" b="1" dirty="0">
                <a:solidFill>
                  <a:srgbClr val="232323"/>
                </a:solidFill>
                <a:latin typeface="Times New Roman"/>
              </a:rPr>
              <a:t>: CSE AI</a:t>
            </a:r>
            <a:endParaRPr sz="1100" b="1" dirty="0">
              <a:solidFill>
                <a:srgbClr val="232323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474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A. MOUNESH</dc:creator>
  <cp:keywords/>
  <dc:description>generated using python-pptx</dc:description>
  <cp:lastModifiedBy>A mounish</cp:lastModifiedBy>
  <cp:revision>2</cp:revision>
  <dcterms:created xsi:type="dcterms:W3CDTF">2013-01-27T09:14:16Z</dcterms:created>
  <dcterms:modified xsi:type="dcterms:W3CDTF">2026-08-28T12:55:45Z</dcterms:modified>
  <cp:category/>
</cp:coreProperties>
</file>